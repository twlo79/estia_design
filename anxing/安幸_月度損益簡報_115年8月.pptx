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51560"/>
            <a:ext cx="1005840" cy="0"/>
          </a:xfrm>
          <a:prstGeom prst="line">
            <a:avLst/>
          </a:prstGeom>
          <a:noFill/>
          <a:ln w="15240">
            <a:solidFill>
              <a:srgbClr val="221D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331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spc="600" kern="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Monthly Statement of Earnings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120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一一五年八月 ・ 新台幣元 ・ 內部文件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實際損益</a:t>
            </a:r>
            <a:pPr indent="0" marL="0">
              <a:buNone/>
            </a:pPr>
            <a:r>
              <a:rPr lang="en-US" sz="10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Net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59536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1,584,381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914400" y="4069080"/>
            <a:ext cx="4206240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利潤率 </a:t>
            </a:r>
            <a:pPr indent="0" marL="0">
              <a:buNone/>
            </a:pPr>
            <a:r>
              <a:rPr lang="en-US" sz="1400" dirty="0">
                <a:solidFill>
                  <a:srgbClr val="8B6F4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16.3%</a:t>
            </a:r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      實際營收 </a:t>
            </a:r>
            <a:pPr indent="0" marL="0">
              <a:buNone/>
            </a:pPr>
            <a:r>
              <a:rPr lang="en-US" sz="14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9,733,398</a:t>
            </a:r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      實際成本 </a:t>
            </a:r>
            <a:pPr indent="0" marL="0">
              <a:buNone/>
            </a:pPr>
            <a:r>
              <a:rPr lang="en-US" sz="14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8,149,017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Jim 個人實拿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Owner's share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865,617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佔全案損益 </a:t>
            </a:r>
            <a:pPr indent="0" marL="0">
              <a:buNone/>
            </a:pPr>
            <a:r>
              <a:rPr lang="en-US" sz="1250" dirty="0">
                <a:solidFill>
                  <a:srgbClr val="8B6F4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54.6%</a:t>
            </a:r>
            <a:pPr indent="0" marL="0"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    其他股東 </a:t>
            </a:r>
            <a:pPr indent="0" marL="0">
              <a:buNone/>
            </a:pPr>
            <a:r>
              <a:rPr lang="en-US" sz="125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718,764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474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50%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3474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638,418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721608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758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時兆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7581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7581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270,422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005072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開封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4041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32,691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536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325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南京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4325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1/3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4325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32,085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台視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608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46085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29,450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855464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亞曼尼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017520" y="4892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23360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2,523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5138928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5175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JPR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5175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1/3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51755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−5,836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5422392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4400" y="5458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復興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017520" y="5458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023360" y="5458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−8,533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4400" y="5705856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4400" y="5742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安幸辦公室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017520" y="5742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023360" y="57424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−125,603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0" y="5989320"/>
            <a:ext cx="466344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49440" y="39319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正隆一案佔實拿 </a:t>
            </a:r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8B6F4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73.8%</a:t>
            </a:r>
            <a:pPr indent="0" marL="0">
              <a:lnSpc>
                <a:spcPts val="2200"/>
              </a:lnSpc>
              <a:buNone/>
            </a:pPr>
            <a:endParaRPr lang="en-US" sz="11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正隆的去化,直接攻的是老闆的口袋。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各案子實際損益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Actual net by property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46120" y="1371600"/>
            <a:ext cx="0" cy="4572000"/>
          </a:xfrm>
          <a:prstGeom prst="line">
            <a:avLst/>
          </a:prstGeom>
          <a:noFill/>
          <a:ln w="9525">
            <a:solidFill>
              <a:srgbClr val="221D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36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600200"/>
            <a:ext cx="6400800" cy="137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756648" y="1554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1,276,836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時兆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2075688"/>
            <a:ext cx="1355630" cy="137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11478" y="2029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270,422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487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南京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551176"/>
            <a:ext cx="482528" cy="137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38376" y="2505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96,255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9626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3026664"/>
            <a:ext cx="303483" cy="137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9331" y="29809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60,539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4381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台視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3502152"/>
            <a:ext cx="147633" cy="137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03481" y="34564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29,450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亞曼尼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977640"/>
            <a:ext cx="18288" cy="13716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74136" y="39319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2,523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389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JPR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8352" y="4453128"/>
            <a:ext cx="87768" cy="137160"/>
          </a:xfrm>
          <a:prstGeom prst="rect">
            <a:avLst/>
          </a:prstGeom>
          <a:solidFill>
            <a:srgbClr val="A354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741032" y="44074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−17,508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8646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復興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3344" y="4928616"/>
            <a:ext cx="42776" cy="137160"/>
          </a:xfrm>
          <a:prstGeom prst="rect">
            <a:avLst/>
          </a:prstGeom>
          <a:solidFill>
            <a:srgbClr val="A354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786024" y="48828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−8,533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3400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安幸辦公室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16470" y="5404104"/>
            <a:ext cx="629650" cy="137160"/>
          </a:xfrm>
          <a:prstGeom prst="rect">
            <a:avLst/>
          </a:prstGeom>
          <a:solidFill>
            <a:srgbClr val="A3543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99150" y="53583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−125,603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實際營收結構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Composition of revenue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80.2%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正隆佔實際營收;其正向損益佔比 80.6%。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3749040"/>
            <a:ext cx="8308842" cy="27432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7" name="Shape 5"/>
          <p:cNvSpPr/>
          <p:nvPr/>
        </p:nvSpPr>
        <p:spPr>
          <a:xfrm>
            <a:off x="9223242" y="3749040"/>
            <a:ext cx="870253" cy="274320"/>
          </a:xfrm>
          <a:prstGeom prst="rect">
            <a:avLst/>
          </a:prstGeom>
          <a:solidFill>
            <a:srgbClr val="221D17"/>
          </a:solidFill>
          <a:ln/>
        </p:spPr>
      </p:sp>
      <p:sp>
        <p:nvSpPr>
          <p:cNvPr id="8" name="Shape 6"/>
          <p:cNvSpPr/>
          <p:nvPr/>
        </p:nvSpPr>
        <p:spPr>
          <a:xfrm>
            <a:off x="10093495" y="3749040"/>
            <a:ext cx="497287" cy="274320"/>
          </a:xfrm>
          <a:prstGeom prst="rect">
            <a:avLst/>
          </a:prstGeom>
          <a:solidFill>
            <a:srgbClr val="A49E94"/>
          </a:solidFill>
          <a:ln/>
        </p:spPr>
      </p:sp>
      <p:sp>
        <p:nvSpPr>
          <p:cNvPr id="9" name="Shape 7"/>
          <p:cNvSpPr/>
          <p:nvPr/>
        </p:nvSpPr>
        <p:spPr>
          <a:xfrm>
            <a:off x="10590782" y="3749040"/>
            <a:ext cx="300444" cy="274320"/>
          </a:xfrm>
          <a:prstGeom prst="rect">
            <a:avLst/>
          </a:prstGeom>
          <a:solidFill>
            <a:srgbClr val="8F887C"/>
          </a:solidFill>
          <a:ln/>
        </p:spPr>
      </p:sp>
      <p:sp>
        <p:nvSpPr>
          <p:cNvPr id="10" name="Shape 8"/>
          <p:cNvSpPr/>
          <p:nvPr/>
        </p:nvSpPr>
        <p:spPr>
          <a:xfrm>
            <a:off x="10891226" y="3749040"/>
            <a:ext cx="383326" cy="274320"/>
          </a:xfrm>
          <a:prstGeom prst="rect">
            <a:avLst/>
          </a:prstGeom>
          <a:solidFill>
            <a:srgbClr val="C9BFA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224528"/>
            <a:ext cx="128016" cy="128016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15568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  </a:t>
            </a:r>
            <a:pPr indent="0" marL="0">
              <a:buNone/>
            </a:pPr>
            <a:r>
              <a:rPr lang="en-US" sz="9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80.2%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35808" y="4224528"/>
            <a:ext cx="128016" cy="128016"/>
          </a:xfrm>
          <a:prstGeom prst="rect">
            <a:avLst/>
          </a:prstGeom>
          <a:solidFill>
            <a:srgbClr val="221D1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36976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時兆  </a:t>
            </a:r>
            <a:pPr indent="0" marL="0">
              <a:buNone/>
            </a:pPr>
            <a:r>
              <a:rPr lang="en-US" sz="9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8.4%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57216" y="4224528"/>
            <a:ext cx="128016" cy="128016"/>
          </a:xfrm>
          <a:prstGeom prst="rect">
            <a:avLst/>
          </a:prstGeom>
          <a:solidFill>
            <a:srgbClr val="A49E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58384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安幸辦公室  </a:t>
            </a:r>
            <a:pPr indent="0" marL="0">
              <a:buNone/>
            </a:pPr>
            <a:r>
              <a:rPr lang="en-US" sz="9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4.8%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78624" y="4224528"/>
            <a:ext cx="128016" cy="128016"/>
          </a:xfrm>
          <a:prstGeom prst="rect">
            <a:avLst/>
          </a:prstGeom>
          <a:solidFill>
            <a:srgbClr val="8F887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79792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開封  </a:t>
            </a:r>
            <a:pPr indent="0" marL="0">
              <a:buNone/>
            </a:pPr>
            <a:r>
              <a:rPr lang="en-US" sz="9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2.9%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00032" y="4224528"/>
            <a:ext cx="128016" cy="128016"/>
          </a:xfrm>
          <a:prstGeom prst="rect">
            <a:avLst/>
          </a:prstGeom>
          <a:solidFill>
            <a:srgbClr val="C9BFA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0" y="4142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其他  </a:t>
            </a:r>
            <a:pPr indent="0" marL="0">
              <a:buNone/>
            </a:pPr>
            <a:r>
              <a:rPr lang="en-US" sz="9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3.7%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集中度既是引擎,也是第一風險——正隆的月租去化為本季第一優先。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各案子利潤率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Margin by property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50302" y="1417320"/>
            <a:ext cx="0" cy="4480560"/>
          </a:xfrm>
          <a:prstGeom prst="line">
            <a:avLst/>
          </a:prstGeom>
          <a:noFill/>
          <a:ln w="9525">
            <a:solidFill>
              <a:srgbClr val="221D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75982" y="5943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0%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782951" y="5943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50%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789920" y="5943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100%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572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亞曼尼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700784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3948" y="1645920"/>
            <a:ext cx="100584" cy="10058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173968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100.0%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04825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南京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176272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268" y="2121408"/>
            <a:ext cx="100584" cy="10058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0288" y="20482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44.9%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25237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台視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651760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6003" y="2596896"/>
            <a:ext cx="100584" cy="10058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46023" y="2523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43.0%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時兆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127248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6637" y="3072384"/>
            <a:ext cx="100584" cy="10058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56657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33.2%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602736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6992" y="3547872"/>
            <a:ext cx="100584" cy="10058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7012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21.4%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4078224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6295" y="4023360"/>
            <a:ext cx="100584" cy="10058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46315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16.4%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44256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JPR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46120" y="4553712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3027" y="4498848"/>
            <a:ext cx="100584" cy="100584"/>
          </a:xfrm>
          <a:prstGeom prst="ellipse">
            <a:avLst/>
          </a:prstGeom>
          <a:solidFill>
            <a:srgbClr val="A3543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873047" y="4425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-21.4%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49011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安幸辦公室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46120" y="5029200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6246" y="4974336"/>
            <a:ext cx="100584" cy="100584"/>
          </a:xfrm>
          <a:prstGeom prst="ellipse">
            <a:avLst/>
          </a:prstGeom>
          <a:solidFill>
            <a:srgbClr val="A3543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536266" y="49011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-27.0%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" y="53766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復興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46120" y="5504688"/>
            <a:ext cx="7818120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41742" y="53766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三個負數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Where money leaks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0" cy="310896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安幸辦公室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−125,603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薪資中樞:441,374 薪資全列此、內部僅回收 178,000。屬結構性,非經營惡化。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463040"/>
            <a:ext cx="0" cy="310896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JPR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−17,508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房東租金 42,000+內部管理費 40,000 高於本月營收——去化與定價待檢。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0" cy="310896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復興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−8,533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8346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本月零營收,固定成本照走——最小的傷口,最清楚的訊號。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薪資中樞的一張圖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How the office node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時兆  </a:t>
            </a:r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90,000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063240" y="1975104"/>
            <a:ext cx="1600200" cy="0"/>
          </a:xfrm>
          <a:prstGeom prst="line">
            <a:avLst/>
          </a:prstGeom>
          <a:noFill/>
          <a:ln w="9525">
            <a:solidFill>
              <a:srgbClr val="A49E94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91440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開封  </a:t>
            </a:r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48,000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63240" y="3163824"/>
            <a:ext cx="1600200" cy="0"/>
          </a:xfrm>
          <a:prstGeom prst="line">
            <a:avLst/>
          </a:prstGeom>
          <a:noFill/>
          <a:ln w="9525">
            <a:solidFill>
              <a:srgbClr val="A49E94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91440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JPR  </a:t>
            </a:r>
            <a:pPr indent="0" marL="0">
              <a:buNone/>
            </a:pPr>
            <a:r>
              <a:rPr lang="en-US" sz="1150" dirty="0">
                <a:solidFill>
                  <a:srgbClr val="4A443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40,000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4352544"/>
            <a:ext cx="1600200" cy="0"/>
          </a:xfrm>
          <a:prstGeom prst="line">
            <a:avLst/>
          </a:prstGeom>
          <a:noFill/>
          <a:ln w="9525">
            <a:solidFill>
              <a:srgbClr val="A49E9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468880"/>
            <a:ext cx="3017520" cy="1371600"/>
          </a:xfrm>
          <a:prstGeom prst="rect">
            <a:avLst/>
          </a:prstGeom>
          <a:solidFill>
            <a:srgbClr val="F4F0E8"/>
          </a:solidFill>
          <a:ln w="12700">
            <a:solidFill>
              <a:srgbClr val="221D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安幸辦公室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薪資獎金 </a:t>
            </a:r>
            <a:pPr algn="ctr" indent="0" marL="0">
              <a:buNone/>
            </a:pPr>
            <a:r>
              <a:rPr lang="en-US" sz="11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441,374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3154680"/>
            <a:ext cx="1371600" cy="0"/>
          </a:xfrm>
          <a:prstGeom prst="line">
            <a:avLst/>
          </a:prstGeom>
          <a:noFill/>
          <a:ln w="9525">
            <a:solidFill>
              <a:srgbClr val="A49E94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326880" y="2743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內部回收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21D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178,000</a:t>
            </a:r>
            <a:pPr indent="0" marL="0">
              <a:lnSpc>
                <a:spcPts val="2200"/>
              </a:lnSpc>
              <a:buNone/>
            </a:pP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淨額 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A3543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−125,603</a:t>
            </a:r>
            <a:pPr indent="0" marL="0">
              <a:lnSpc>
                <a:spcPts val="2200"/>
              </a:lnSpc>
              <a:buNone/>
            </a:pPr>
            <a:r>
              <a:rPr lang="en-US" sz="95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 (結構性)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九人薪資集中列於辦公室;三案固定回付。合併損益不受影響——單看辦公室的赤字,是設計,不是失血。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6400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下個月看什麼</a:t>
            </a:r>
            <a:pPr indent="0" marL="0">
              <a:buNone/>
            </a:pPr>
            <a:r>
              <a:rPr lang="en-US" sz="9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  What to watch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14400" y="1024128"/>
            <a:ext cx="10360152" cy="0"/>
          </a:xfrm>
          <a:prstGeom prst="line">
            <a:avLst/>
          </a:prstGeom>
          <a:noFill/>
          <a:ln w="12700">
            <a:solidFill>
              <a:srgbClr val="221D1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6F4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一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正隆去化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1591056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10 間空房=本表最大的可回收損益;每週一詢問週報的三個數字,直接對應這頁的 80%。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6F4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二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944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兩個小負數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962656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JPR 檢定價與去留;復興要嘛有營收,要嘛談退租——最小的傷口先縫。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6F4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三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315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九月版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334256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A443B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複製本檔,換掉「報表數據」與「調整明細」的藍字——全表、全圖、本簡報的數字來源即更新。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6291072"/>
            <a:ext cx="10360152" cy="0"/>
          </a:xfrm>
          <a:prstGeom prst="line">
            <a:avLst/>
          </a:prstGeom>
          <a:noFill/>
          <a:ln w="6350">
            <a:solidFill>
              <a:srgbClr val="D9D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 · 老闆版損益 · 一一五年八月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360152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108960"/>
            <a:ext cx="1005840" cy="0"/>
          </a:xfrm>
          <a:prstGeom prst="line">
            <a:avLst/>
          </a:prstGeom>
          <a:noFill/>
          <a:ln w="15240">
            <a:solidFill>
              <a:srgbClr val="221D1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221D17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安幸有限公司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49E9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Internal · August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2026-09-18T05:56:03Z</dcterms:created>
  <dcterms:modified xsi:type="dcterms:W3CDTF">2026-09-18T05:56:03Z</dcterms:modified>
</cp:coreProperties>
</file>