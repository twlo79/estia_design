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51560"/>
            <a:ext cx="1005840" cy="0"/>
          </a:xfrm>
          <a:prstGeom prst="line">
            <a:avLst/>
          </a:prstGeom>
          <a:noFill/>
          <a:ln w="15240">
            <a:solidFill>
              <a:srgbClr val="221D1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23317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600" kern="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安幸有限公司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004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Monthly Statement of Earnings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5120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00" kern="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一一五年八月 ・ 新台幣元 ・ 內部文件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14400" y="6291072"/>
            <a:ext cx="10360152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安幸有限公司 · 老闆版損益 · 一一五年八月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實際損益</a:t>
            </a:r>
            <a:pPr indent="0" marL="0">
              <a:buNone/>
            </a:pPr>
            <a:r>
              <a:rPr lang="en-US" sz="1050" i="1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Net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59536" y="19202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1,584,381</a:t>
            </a:r>
            <a:endParaRPr lang="en-US" sz="8800" dirty="0"/>
          </a:p>
        </p:txBody>
      </p:sp>
      <p:sp>
        <p:nvSpPr>
          <p:cNvPr id="4" name="Shape 2"/>
          <p:cNvSpPr/>
          <p:nvPr/>
        </p:nvSpPr>
        <p:spPr>
          <a:xfrm>
            <a:off x="914400" y="4069080"/>
            <a:ext cx="4206240" cy="0"/>
          </a:xfrm>
          <a:prstGeom prst="line">
            <a:avLst/>
          </a:prstGeom>
          <a:noFill/>
          <a:ln w="12700">
            <a:solidFill>
              <a:srgbClr val="221D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利潤率 </a:t>
            </a:r>
            <a:pPr indent="0" marL="0">
              <a:buNone/>
            </a:pPr>
            <a:r>
              <a:rPr lang="en-US" sz="1400" dirty="0">
                <a:solidFill>
                  <a:srgbClr val="8B6F4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16.3%</a:t>
            </a:r>
            <a:pPr indent="0" marL="0">
              <a:buNone/>
            </a:pPr>
            <a:r>
              <a:rPr lang="en-US" sz="12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      實際營收 </a:t>
            </a:r>
            <a:pPr indent="0" marL="0">
              <a:buNone/>
            </a:pPr>
            <a:r>
              <a:rPr lang="en-US" sz="14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9,733,398</a:t>
            </a:r>
            <a:pPr indent="0" marL="0">
              <a:buNone/>
            </a:pPr>
            <a:r>
              <a:rPr lang="en-US" sz="12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      實際成本 </a:t>
            </a:r>
            <a:pPr indent="0" marL="0">
              <a:buNone/>
            </a:pPr>
            <a:r>
              <a:rPr lang="en-US" sz="14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8,149,017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6291072"/>
            <a:ext cx="10360152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安幸有限公司 · 老闆版損益 · 一一五年八月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1036015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400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Jim 個人實拿</a:t>
            </a:r>
            <a:pPr indent="0" marL="0">
              <a:buNone/>
            </a:pPr>
            <a:r>
              <a:rPr lang="en-US" sz="950" i="1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Owner's share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14400" y="1024128"/>
            <a:ext cx="10360152" cy="0"/>
          </a:xfrm>
          <a:prstGeom prst="line">
            <a:avLst/>
          </a:prstGeom>
          <a:noFill/>
          <a:ln w="12700">
            <a:solidFill>
              <a:srgbClr val="221D1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865,617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佔全案損益 </a:t>
            </a:r>
            <a:pPr indent="0" marL="0">
              <a:buNone/>
            </a:pPr>
            <a:r>
              <a:rPr lang="en-US" sz="1250" dirty="0">
                <a:solidFill>
                  <a:srgbClr val="8B6F4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54.6%</a:t>
            </a:r>
            <a:pPr indent="0" marL="0">
              <a:buNone/>
            </a:pPr>
            <a:r>
              <a:rPr lang="en-US" sz="11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    其他股東 </a:t>
            </a:r>
            <a:pPr indent="0" marL="0">
              <a:buNone/>
            </a:pPr>
            <a:r>
              <a:rPr lang="en-US" sz="125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718,764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474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正隆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3474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50%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023360" y="34747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638,418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3721608"/>
            <a:ext cx="466344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7581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時兆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37581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75818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270,422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4005072"/>
            <a:ext cx="466344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04164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開封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04164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54%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40416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32,691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14400" y="4288536"/>
            <a:ext cx="466344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3251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南京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4325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1/3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023360" y="43251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32,085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4400" y="4572000"/>
            <a:ext cx="466344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6085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台視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017520" y="460857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023360" y="4608576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29,450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4400" y="4855464"/>
            <a:ext cx="466344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亞曼尼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017520" y="48920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023360" y="48920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2,523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14400" y="5138928"/>
            <a:ext cx="466344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" y="517550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JPR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017520" y="5175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1/3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51755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−5,836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14400" y="5422392"/>
            <a:ext cx="466344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4400" y="5458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復興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017520" y="545896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023360" y="545896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−8,533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14400" y="5705856"/>
            <a:ext cx="466344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7424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安幸辦公室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017520" y="5742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4023360" y="57424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−125,603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14400" y="5989320"/>
            <a:ext cx="466344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49440" y="393192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正隆一案佔實拿 </a:t>
            </a:r>
            <a:pPr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8B6F4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73.8%</a:t>
            </a:r>
            <a:pPr indent="0" marL="0">
              <a:lnSpc>
                <a:spcPts val="2200"/>
              </a:lnSpc>
              <a:buNone/>
            </a:pPr>
            <a:endParaRPr lang="en-US" sz="11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正隆的去化,直接攻的是老闆的口袋。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914400" y="6291072"/>
            <a:ext cx="10360152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安幸有限公司 · 老闆版損益 · 一一五年八月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1036015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400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各案子實際損益</a:t>
            </a:r>
            <a:pPr indent="0" marL="0">
              <a:buNone/>
            </a:pPr>
            <a:r>
              <a:rPr lang="en-US" sz="950" i="1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Actual net by property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14400" y="1024128"/>
            <a:ext cx="10360152" cy="0"/>
          </a:xfrm>
          <a:prstGeom prst="line">
            <a:avLst/>
          </a:prstGeom>
          <a:noFill/>
          <a:ln w="12700">
            <a:solidFill>
              <a:srgbClr val="221D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46120" y="1371600"/>
            <a:ext cx="0" cy="4572000"/>
          </a:xfrm>
          <a:prstGeom prst="line">
            <a:avLst/>
          </a:prstGeom>
          <a:noFill/>
          <a:ln w="9525">
            <a:solidFill>
              <a:srgbClr val="221D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53619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正隆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46120" y="1600200"/>
            <a:ext cx="6400800" cy="13716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756648" y="155448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1,276,836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011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時兆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2075688"/>
            <a:ext cx="1355630" cy="13716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11478" y="202996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270,422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4871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南京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46120" y="2551176"/>
            <a:ext cx="482528" cy="13716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838376" y="250545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96,255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296265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開封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46120" y="3026664"/>
            <a:ext cx="303483" cy="13716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59331" y="298094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60,539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381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台視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46120" y="3502152"/>
            <a:ext cx="147633" cy="13716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03481" y="3456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29,450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9136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亞曼尼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46120" y="3977640"/>
            <a:ext cx="18288" cy="13716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374136" y="39319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2,523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389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JPR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158352" y="4453128"/>
            <a:ext cx="87768" cy="137160"/>
          </a:xfrm>
          <a:prstGeom prst="rect">
            <a:avLst/>
          </a:prstGeom>
          <a:solidFill>
            <a:srgbClr val="A3543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741032" y="440740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−17,508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48646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復興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3344" y="4928616"/>
            <a:ext cx="42776" cy="137160"/>
          </a:xfrm>
          <a:prstGeom prst="rect">
            <a:avLst/>
          </a:prstGeom>
          <a:solidFill>
            <a:srgbClr val="A3543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786024" y="4882896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−8,533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53400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安幸辦公室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16470" y="5404104"/>
            <a:ext cx="629650" cy="137160"/>
          </a:xfrm>
          <a:prstGeom prst="rect">
            <a:avLst/>
          </a:prstGeom>
          <a:solidFill>
            <a:srgbClr val="A3543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199150" y="5358384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−125,603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14400" y="6291072"/>
            <a:ext cx="10360152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44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安幸有限公司 · 老闆版損益 · 一一五年八月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1036015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400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實際營收結構</a:t>
            </a:r>
            <a:pPr indent="0" marL="0">
              <a:buNone/>
            </a:pPr>
            <a:r>
              <a:rPr lang="en-US" sz="950" i="1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Composition of revenue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14400" y="1024128"/>
            <a:ext cx="10360152" cy="0"/>
          </a:xfrm>
          <a:prstGeom prst="line">
            <a:avLst/>
          </a:prstGeom>
          <a:noFill/>
          <a:ln w="12700">
            <a:solidFill>
              <a:srgbClr val="221D1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80.2%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正隆佔實際營收;其正向損益佔比 80.6%。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749040"/>
            <a:ext cx="8308842" cy="274320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7" name="Shape 5"/>
          <p:cNvSpPr/>
          <p:nvPr/>
        </p:nvSpPr>
        <p:spPr>
          <a:xfrm>
            <a:off x="9223242" y="3749040"/>
            <a:ext cx="870253" cy="274320"/>
          </a:xfrm>
          <a:prstGeom prst="rect">
            <a:avLst/>
          </a:prstGeom>
          <a:solidFill>
            <a:srgbClr val="221D17"/>
          </a:solidFill>
          <a:ln/>
        </p:spPr>
      </p:sp>
      <p:sp>
        <p:nvSpPr>
          <p:cNvPr id="8" name="Shape 6"/>
          <p:cNvSpPr/>
          <p:nvPr/>
        </p:nvSpPr>
        <p:spPr>
          <a:xfrm>
            <a:off x="10093495" y="3749040"/>
            <a:ext cx="497287" cy="274320"/>
          </a:xfrm>
          <a:prstGeom prst="rect">
            <a:avLst/>
          </a:prstGeom>
          <a:solidFill>
            <a:srgbClr val="A49E94"/>
          </a:solidFill>
          <a:ln/>
        </p:spPr>
      </p:sp>
      <p:sp>
        <p:nvSpPr>
          <p:cNvPr id="9" name="Shape 7"/>
          <p:cNvSpPr/>
          <p:nvPr/>
        </p:nvSpPr>
        <p:spPr>
          <a:xfrm>
            <a:off x="10590782" y="3749040"/>
            <a:ext cx="300444" cy="274320"/>
          </a:xfrm>
          <a:prstGeom prst="rect">
            <a:avLst/>
          </a:prstGeom>
          <a:solidFill>
            <a:srgbClr val="8F887C"/>
          </a:solidFill>
          <a:ln/>
        </p:spPr>
      </p:sp>
      <p:sp>
        <p:nvSpPr>
          <p:cNvPr id="10" name="Shape 8"/>
          <p:cNvSpPr/>
          <p:nvPr/>
        </p:nvSpPr>
        <p:spPr>
          <a:xfrm>
            <a:off x="10891226" y="3749040"/>
            <a:ext cx="383326" cy="274320"/>
          </a:xfrm>
          <a:prstGeom prst="rect">
            <a:avLst/>
          </a:prstGeom>
          <a:solidFill>
            <a:srgbClr val="C9BFAF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224528"/>
            <a:ext cx="128016" cy="128016"/>
          </a:xfrm>
          <a:prstGeom prst="rect">
            <a:avLst/>
          </a:prstGeom>
          <a:solidFill>
            <a:srgbClr val="8B6F4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15568" y="41422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正隆  </a:t>
            </a:r>
            <a:pPr indent="0" marL="0">
              <a:buNone/>
            </a:pPr>
            <a:r>
              <a:rPr lang="en-US" sz="95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80.2%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035808" y="4224528"/>
            <a:ext cx="128016" cy="128016"/>
          </a:xfrm>
          <a:prstGeom prst="rect">
            <a:avLst/>
          </a:prstGeom>
          <a:solidFill>
            <a:srgbClr val="221D1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36976" y="41422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時兆  </a:t>
            </a:r>
            <a:pPr indent="0" marL="0">
              <a:buNone/>
            </a:pPr>
            <a:r>
              <a:rPr lang="en-US" sz="95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8.4%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157216" y="4224528"/>
            <a:ext cx="128016" cy="128016"/>
          </a:xfrm>
          <a:prstGeom prst="rect">
            <a:avLst/>
          </a:prstGeom>
          <a:solidFill>
            <a:srgbClr val="A49E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58384" y="41422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安幸辦公室  </a:t>
            </a:r>
            <a:pPr indent="0" marL="0">
              <a:buNone/>
            </a:pPr>
            <a:r>
              <a:rPr lang="en-US" sz="95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4.8%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278624" y="4224528"/>
            <a:ext cx="128016" cy="128016"/>
          </a:xfrm>
          <a:prstGeom prst="rect">
            <a:avLst/>
          </a:prstGeom>
          <a:solidFill>
            <a:srgbClr val="8F887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79792" y="41422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開封  </a:t>
            </a:r>
            <a:pPr indent="0" marL="0">
              <a:buNone/>
            </a:pPr>
            <a:r>
              <a:rPr lang="en-US" sz="95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2.9%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400032" y="4224528"/>
            <a:ext cx="128016" cy="128016"/>
          </a:xfrm>
          <a:prstGeom prst="rect">
            <a:avLst/>
          </a:prstGeom>
          <a:solidFill>
            <a:srgbClr val="C9BFA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0" y="41422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其他  </a:t>
            </a:r>
            <a:pPr indent="0" marL="0">
              <a:buNone/>
            </a:pPr>
            <a:r>
              <a:rPr lang="en-US" sz="95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3.7%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集中度既是引擎,也是第一風險——正隆的月租去化為本季第一優先。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14400" y="6291072"/>
            <a:ext cx="10360152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安幸有限公司 · 老闆版損益 · 一一五年八月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36015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400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各案子利潤率</a:t>
            </a:r>
            <a:pPr indent="0" marL="0">
              <a:buNone/>
            </a:pPr>
            <a:r>
              <a:rPr lang="en-US" sz="950" i="1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Margin by property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14400" y="1024128"/>
            <a:ext cx="10360152" cy="0"/>
          </a:xfrm>
          <a:prstGeom prst="line">
            <a:avLst/>
          </a:prstGeom>
          <a:noFill/>
          <a:ln w="12700">
            <a:solidFill>
              <a:srgbClr val="221D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50302" y="1417320"/>
            <a:ext cx="0" cy="4480560"/>
          </a:xfrm>
          <a:prstGeom prst="line">
            <a:avLst/>
          </a:prstGeom>
          <a:noFill/>
          <a:ln w="9525">
            <a:solidFill>
              <a:srgbClr val="221D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75982" y="5943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0%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7782951" y="5943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50%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0789920" y="5943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100%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157276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亞曼尼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700784"/>
            <a:ext cx="781812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13948" y="1645920"/>
            <a:ext cx="100584" cy="100584"/>
          </a:xfrm>
          <a:prstGeom prst="ellipse">
            <a:avLst/>
          </a:prstGeom>
          <a:solidFill>
            <a:srgbClr val="8B6F4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173968" y="15727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100.0%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04825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南京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2176272"/>
            <a:ext cx="781812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00268" y="2121408"/>
            <a:ext cx="100584" cy="100584"/>
          </a:xfrm>
          <a:prstGeom prst="ellipse">
            <a:avLst/>
          </a:prstGeom>
          <a:solidFill>
            <a:srgbClr val="8B6F4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60288" y="20482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44.9%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252374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台視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46120" y="2651760"/>
            <a:ext cx="781812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86003" y="2596896"/>
            <a:ext cx="100584" cy="100584"/>
          </a:xfrm>
          <a:prstGeom prst="ellipse">
            <a:avLst/>
          </a:prstGeom>
          <a:solidFill>
            <a:srgbClr val="8B6F4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46023" y="252374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43.0%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29992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時兆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46120" y="3127248"/>
            <a:ext cx="781812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6637" y="3072384"/>
            <a:ext cx="100584" cy="100584"/>
          </a:xfrm>
          <a:prstGeom prst="ellipse">
            <a:avLst/>
          </a:prstGeom>
          <a:solidFill>
            <a:srgbClr val="8B6F4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56657" y="29992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33.2%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4747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開封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46120" y="3602736"/>
            <a:ext cx="781812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86992" y="3547872"/>
            <a:ext cx="100584" cy="100584"/>
          </a:xfrm>
          <a:prstGeom prst="ellipse">
            <a:avLst/>
          </a:prstGeom>
          <a:solidFill>
            <a:srgbClr val="8B6F4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47012" y="3474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21.4%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95020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正隆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46120" y="4078224"/>
            <a:ext cx="781812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6295" y="4023360"/>
            <a:ext cx="100584" cy="100584"/>
          </a:xfrm>
          <a:prstGeom prst="ellipse">
            <a:avLst/>
          </a:prstGeom>
          <a:solidFill>
            <a:srgbClr val="8B6F4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46315" y="395020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16.4%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44256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JPR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246120" y="4553712"/>
            <a:ext cx="781812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13027" y="4498848"/>
            <a:ext cx="100584" cy="100584"/>
          </a:xfrm>
          <a:prstGeom prst="ellipse">
            <a:avLst/>
          </a:prstGeom>
          <a:solidFill>
            <a:srgbClr val="A3543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73047" y="442569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-21.4%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490118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安幸辦公室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46120" y="5029200"/>
            <a:ext cx="781812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76246" y="4974336"/>
            <a:ext cx="100584" cy="100584"/>
          </a:xfrm>
          <a:prstGeom prst="ellipse">
            <a:avLst/>
          </a:prstGeom>
          <a:solidFill>
            <a:srgbClr val="A3543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36266" y="49011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-27.0%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537667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復興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246120" y="5504688"/>
            <a:ext cx="7818120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141742" y="53766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14400" y="6291072"/>
            <a:ext cx="10360152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安幸有限公司 · 老闆版損益 · 一一五年八月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1036015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400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三個負數</a:t>
            </a:r>
            <a:pPr indent="0" marL="0">
              <a:buNone/>
            </a:pPr>
            <a:r>
              <a:rPr lang="en-US" sz="950" i="1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Where money leaks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14400" y="1024128"/>
            <a:ext cx="10360152" cy="0"/>
          </a:xfrm>
          <a:prstGeom prst="line">
            <a:avLst/>
          </a:prstGeom>
          <a:noFill/>
          <a:ln w="12700">
            <a:solidFill>
              <a:srgbClr val="221D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0" cy="310896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安幸辦公室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−125,603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8346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薪資中樞:薪資 441,374+自身營運 148,939;內部收入 464,710(含正隆 200,000)未足額覆蓋。結構性。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26280" y="1463040"/>
            <a:ext cx="0" cy="310896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5488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JPR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5488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−17,508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28346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房東租金 42,000+內部管理費 40,000 高於本月營收——去化與定價待檢。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0" cy="310896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676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復興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196596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−8,533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283464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5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本月零營收,固定成本照走——最小的傷口,最清楚的訊號。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4400" y="6291072"/>
            <a:ext cx="10360152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安幸有限公司 · 老闆版損益 · 一一五年八月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036015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400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薪資中樞的一張圖</a:t>
            </a:r>
            <a:pPr indent="0" marL="0">
              <a:buNone/>
            </a:pPr>
            <a:r>
              <a:rPr lang="en-US" sz="950" i="1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How the office node works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14400" y="1024128"/>
            <a:ext cx="10360152" cy="0"/>
          </a:xfrm>
          <a:prstGeom prst="line">
            <a:avLst/>
          </a:prstGeom>
          <a:noFill/>
          <a:ln w="12700">
            <a:solidFill>
              <a:srgbClr val="221D1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正隆  </a:t>
            </a:r>
            <a:pPr indent="0" marL="0">
              <a:buNone/>
            </a:pPr>
            <a:r>
              <a:rPr lang="en-US" sz="115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200,000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063240" y="1746504"/>
            <a:ext cx="1600200" cy="0"/>
          </a:xfrm>
          <a:prstGeom prst="line">
            <a:avLst/>
          </a:prstGeom>
          <a:noFill/>
          <a:ln w="9525">
            <a:solidFill>
              <a:srgbClr val="A49E94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914400" y="23774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時兆  </a:t>
            </a:r>
            <a:pPr indent="0" marL="0">
              <a:buNone/>
            </a:pPr>
            <a:r>
              <a:rPr lang="en-US" sz="115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90,000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063240" y="2523744"/>
            <a:ext cx="1600200" cy="0"/>
          </a:xfrm>
          <a:prstGeom prst="line">
            <a:avLst/>
          </a:prstGeom>
          <a:noFill/>
          <a:ln w="9525">
            <a:solidFill>
              <a:srgbClr val="A49E94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914400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開封  </a:t>
            </a:r>
            <a:pPr indent="0" marL="0">
              <a:buNone/>
            </a:pPr>
            <a:r>
              <a:rPr lang="en-US" sz="115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48,000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063240" y="3300984"/>
            <a:ext cx="1600200" cy="0"/>
          </a:xfrm>
          <a:prstGeom prst="line">
            <a:avLst/>
          </a:prstGeom>
          <a:noFill/>
          <a:ln w="9525">
            <a:solidFill>
              <a:srgbClr val="A49E94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914400" y="3931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JPR  </a:t>
            </a:r>
            <a:pPr indent="0" marL="0">
              <a:buNone/>
            </a:pPr>
            <a:r>
              <a:rPr lang="en-US" sz="1150" dirty="0">
                <a:solidFill>
                  <a:srgbClr val="4A443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40,000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63240" y="4078224"/>
            <a:ext cx="1600200" cy="0"/>
          </a:xfrm>
          <a:prstGeom prst="line">
            <a:avLst/>
          </a:prstGeom>
          <a:noFill/>
          <a:ln w="9525">
            <a:solidFill>
              <a:srgbClr val="A49E94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91440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49E94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＋各案清潔費 </a:t>
            </a:r>
            <a:pPr indent="0" marL="0">
              <a:buNone/>
            </a:pPr>
            <a:r>
              <a:rPr lang="en-US" sz="95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87,510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2514600"/>
            <a:ext cx="3017520" cy="1371600"/>
          </a:xfrm>
          <a:prstGeom prst="rect">
            <a:avLst/>
          </a:prstGeom>
          <a:solidFill>
            <a:srgbClr val="F4F0E8"/>
          </a:solidFill>
          <a:ln w="12700">
            <a:solidFill>
              <a:srgbClr val="221D1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安幸辦公室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108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薪資獎金 </a:t>
            </a:r>
            <a:pPr algn="ctr" indent="0" marL="0">
              <a:buNone/>
            </a:pPr>
            <a:r>
              <a:rPr lang="en-US" sz="11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441,374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863840" y="3200400"/>
            <a:ext cx="1234440" cy="0"/>
          </a:xfrm>
          <a:prstGeom prst="line">
            <a:avLst/>
          </a:prstGeom>
          <a:noFill/>
          <a:ln w="9525">
            <a:solidFill>
              <a:srgbClr val="A49E94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9189720" y="26060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內部收入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464,710</a:t>
            </a:r>
            <a:pPr indent="0" marL="0">
              <a:lnSpc>
                <a:spcPts val="2200"/>
              </a:lnSpc>
              <a:buNone/>
            </a:pP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總支出 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21D1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590,313</a:t>
            </a:r>
            <a:pPr indent="0" marL="0">
              <a:lnSpc>
                <a:spcPts val="2200"/>
              </a:lnSpc>
              <a:buNone/>
            </a:pP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淨額 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A3543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−125,603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2578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四案固定回付 378,000+清潔費 87,510=內部收入 464,710;對上薪資 441,374 與自身營運費 148,939——缺口 125,603 是老闆自留的管理成本,合併中自動抵銷。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6291072"/>
            <a:ext cx="10360152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安幸有限公司 · 老闆版損益 · 一一五年八月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1036015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6400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下個月看什麼</a:t>
            </a:r>
            <a:pPr indent="0" marL="0">
              <a:buNone/>
            </a:pPr>
            <a:r>
              <a:rPr lang="en-US" sz="950" i="1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What to watch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14400" y="1024128"/>
            <a:ext cx="10360152" cy="0"/>
          </a:xfrm>
          <a:prstGeom prst="line">
            <a:avLst/>
          </a:prstGeom>
          <a:noFill/>
          <a:ln w="12700">
            <a:solidFill>
              <a:srgbClr val="221D1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554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6F4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一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737360" y="15727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正隆去化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159105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10 間空房=本表最大的可回收損益;每週一詢問週報的三個數字,直接對應這頁的 80%。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2606040"/>
            <a:ext cx="10360152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9260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6F4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二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9443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兩個小負數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96265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JPR 檢定價與去留;復興要嘛有營收,要嘛談退租——最小的傷口先縫。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" y="3977640"/>
            <a:ext cx="10360152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6F47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三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43159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九月版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433425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A443B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複製本檔,換掉「報表數據」與「調整明細」的藍字——全表、全圖、本簡報的數字來源即更新。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14400" y="6291072"/>
            <a:ext cx="10360152" cy="0"/>
          </a:xfrm>
          <a:prstGeom prst="line">
            <a:avLst/>
          </a:prstGeom>
          <a:noFill/>
          <a:ln w="6350">
            <a:solidFill>
              <a:srgbClr val="D9D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安幸有限公司 · 老闆版損益 · 一一五年八月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10360152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3108960"/>
            <a:ext cx="1005840" cy="0"/>
          </a:xfrm>
          <a:prstGeom prst="line">
            <a:avLst/>
          </a:prstGeom>
          <a:noFill/>
          <a:ln w="15240">
            <a:solidFill>
              <a:srgbClr val="221D1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1440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221D17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安幸有限公司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886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A49E9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Internal · August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2026-09-18T09:30:23Z</dcterms:created>
  <dcterms:modified xsi:type="dcterms:W3CDTF">2026-09-18T09:30:23Z</dcterms:modified>
</cp:coreProperties>
</file>