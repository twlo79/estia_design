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00" kern="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8F8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E S I D E N C E 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公司方向公告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C8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一切作為,只有一個目的:增加營業額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8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 · 我們直說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為什麼開這個會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48456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正隆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本月營收缺口 100 萬+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單一物件的下滑,直接打在公司現金流上。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71416" y="1920240"/>
            <a:ext cx="3648456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45736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洪家整棟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已收回,案源消失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供給端的集中風險,真實發生了。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02752" y="1920240"/>
            <a:ext cx="3648456" cy="3017520"/>
          </a:xfrm>
          <a:prstGeom prst="roundRect">
            <a:avLst>
              <a:gd name="adj" fmla="val 181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77072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其他房源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去年極差;今年比去年好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=仍然極差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「有進步」不是安慰——我們要的是活得好,不是死得慢。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結論:案源與營業額,已經影響公司營運。這不是警訊,是現在進行式。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F8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底線 · 先說清楚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不減薪。不裁員。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這是我的決定,也是我的責任。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而讓接下來五個方向發揮效果——是我們每一個人的責任。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公司在這個基礎上,做對公司最好的決定;大家必須跟著一起努力。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8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五個方向,一個目的:增加營業額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39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新增案源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093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全公司第一優先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2093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主責:本次會議拍板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29077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流程優化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9626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把時間還給款待,提升執行量與品質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962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37764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銷售渠道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831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多平台+官網+社群,增加銷售率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8313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Cindy · 大偉 · 芊芊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645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政府補助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700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申請補助經費,挹注營運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700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大偉+芊芊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55138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外籍房務人力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568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補充房務量能,支撐擴張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5568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Cindy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方向一 · 全公司第一優先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新增案源:四族打法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77256" cy="1828800"/>
          </a:xfrm>
          <a:prstGeom prst="roundRect">
            <a:avLst>
              <a:gd name="adj" fmla="val 3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信任圈放大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現任房東加碼與轉介(逐一約茶)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代書・會計師・律師(繼承與閒置資產)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大樓總幹事・物業管理公司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0216" y="1828800"/>
            <a:ext cx="5477256" cy="1828800"/>
          </a:xfrm>
          <a:prstGeom prst="roundRect">
            <a:avLst>
              <a:gd name="adj" fmla="val 3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74536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痛點名單直獵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74536" y="239572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591 久刊戶反向開發(刊 60 天+)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建商餘屋+代銷公司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投資客交屋社區:Turn-key 交屋即收租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477256" cy="1828800"/>
          </a:xfrm>
          <a:prstGeom prst="roundRect">
            <a:avLst>
              <a:gd name="adj" fmla="val 3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041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需求驅動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0740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B2B 先收需求(relocation・外商 HR)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帶著現成租客去敲房東的門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3840480"/>
            <a:ext cx="5477256" cy="1828800"/>
          </a:xfrm>
          <a:prstGeom prst="roundRect">
            <a:avLst>
              <a:gd name="adj" fmla="val 3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74536" y="4041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被動吸單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440740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官網「房東專區」頁+表單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房東社團長期經營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雙軌原則:年租軌接得多,ESTIA 品牌入選標準一條不鬆——案源不挑食,品牌不稀釋。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 · 立即生效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正隆月租:每週一匯報+優先目標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 · Jessica 每週一匯報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上週全部詢問:誰問了・為什麼訂・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為什麼沒訂。質化+量化,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用統一表格歸納原因。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(表格已建:《正隆詢問週報》)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71416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45736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 · 讓「租不動」變成數據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原因排行出來,對症下藥——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是價格?格局?樓層?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每週修一件事,下週驗證。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02752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77072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優先目標 · 18F B5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所有渠道置頂主推,優先出租。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每週匯報它的進度與障礙;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卡住的,當場要資源。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正隆是本月最大的失血點——這張週報,就是止血的儀表板。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05b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方向二 · 主責:大偉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流程優化:把時間還給款待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48456" cy="2377440"/>
          </a:xfrm>
          <a:prstGeom prst="roundRect">
            <a:avLst>
              <a:gd name="adj" fmla="val 230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管家提出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常見、常花時間的問題,列出來。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「如果忙不過來,請告訴我們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是什麼事情。」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71416" y="1920240"/>
            <a:ext cx="3648456" cy="2377440"/>
          </a:xfrm>
          <a:prstGeom prst="roundRect">
            <a:avLst>
              <a:gd name="adj" fmla="val 230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45736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大偉系統化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按「次數 × 分鐘」排序,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最貴的時間小偷先解,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做進系統與自動化。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02752" y="1920240"/>
            <a:ext cx="3648456" cy="2377440"/>
          </a:xfrm>
          <a:prstGeom prst="roundRect">
            <a:avLst>
              <a:gd name="adj" fmla="val 230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77072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效率回收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同樣的心力,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處理更多單位、更好品質——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省下的時間回到客人身上。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原則:自動化回覆處理「資訊」;關係與首覆,永遠是真人——那是我們最貴的差異化。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第一波素材現成:《訊息手冊》17 份範本直接掛進自動回覆。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方向三 · 目的:增加銷售率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銷售渠道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多平台刊登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· Cindy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591・Airbnb 月租・Booking 長住等;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用統一的通路文案模板,一種聲音。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1416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45736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· 大偉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3063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已接近完成——收尾上線。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上線=詢問入口+房東專區雙功能。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920240"/>
            <a:ext cx="3648456" cy="2651760"/>
          </a:xfrm>
          <a:prstGeom prst="roundRect">
            <a:avLst>
              <a:gd name="adj" fmla="val 2069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77072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· 芊芊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63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官網內容先行餵養;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節奏走質不走量。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B2B 直開發(relocation・外商 HR)併入方向一 C 族——渠道與案源,在那裡是同一件事。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方向四 · 主責:大偉+芊芊(輔助)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政府補助:申請經費挹注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48456" cy="2194560"/>
          </a:xfrm>
          <a:prstGeom prst="roundRect">
            <a:avLst>
              <a:gd name="adj" fmla="val 2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社宅包租代管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對接年租軌:政府媒合房源+保證,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同時解案源與金流。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71416" y="1920240"/>
            <a:ext cx="3648456" cy="2194560"/>
          </a:xfrm>
          <a:prstGeom prst="roundRect">
            <a:avLst>
              <a:gd name="adj" fmla="val 2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45736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SIIR 服務業創新研發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流程數位化・系統導入題目,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對應方向二。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02752" y="1920240"/>
            <a:ext cx="3648456" cy="2194560"/>
          </a:xfrm>
          <a:prstGeom prst="roundRect">
            <a:avLst>
              <a:gd name="adj" fmla="val 25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77072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中小企業數位轉型補助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官網・多平台・自動化,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對應方向二與三。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產出節奏:三案最新公告整理成比較表 → 擇定 → 備件送件。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方向五 · 主責:Cindy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外籍房務人力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377440"/>
          </a:xfrm>
          <a:prstGeom prst="roundRect">
            <a:avLst>
              <a:gd name="adj" fmla="val 2308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10268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目的:補充房務量能、控制人力成本,支撐案源擴張後的服務品質。</a:t>
            </a:r>
            <a:endParaRPr lang="en-US" sz="1350" dirty="0"/>
          </a:p>
          <a:p>
            <a:pPr marL="152400" indent="-1524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依既定法規框架推進(方向設定前已確認可行)。</a:t>
            </a:r>
            <a:endParaRPr lang="en-US" sz="1350" dirty="0"/>
          </a:p>
          <a:p>
            <a:pPr marL="152400" indent="-1524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Cindy 主責:引進管道評估 → 申請與流程 → 到任與訓練安排(清潔標準照第十章)。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組織架構(現階段)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6048" y="17830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4DCCC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956048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Jim · 創辦人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9048" y="2423160"/>
            <a:ext cx="0" cy="411480"/>
          </a:xfrm>
          <a:prstGeom prst="line">
            <a:avLst/>
          </a:prstGeom>
          <a:noFill/>
          <a:ln w="12700">
            <a:solidFill>
              <a:srgbClr val="A49E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2834640"/>
            <a:ext cx="7443216" cy="0"/>
          </a:xfrm>
          <a:prstGeom prst="line">
            <a:avLst/>
          </a:prstGeom>
          <a:noFill/>
          <a:ln w="12700">
            <a:solidFill>
              <a:srgbClr val="A49E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834640"/>
            <a:ext cx="0" cy="320040"/>
          </a:xfrm>
          <a:prstGeom prst="line">
            <a:avLst/>
          </a:prstGeom>
          <a:noFill/>
          <a:ln w="12700">
            <a:solidFill>
              <a:srgbClr val="A49E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9048" y="2834640"/>
            <a:ext cx="0" cy="320040"/>
          </a:xfrm>
          <a:prstGeom prst="line">
            <a:avLst/>
          </a:prstGeom>
          <a:noFill/>
          <a:ln w="12700">
            <a:solidFill>
              <a:srgbClr val="A49E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20656" y="2834640"/>
            <a:ext cx="0" cy="320040"/>
          </a:xfrm>
          <a:prstGeom prst="line">
            <a:avLst/>
          </a:prstGeom>
          <a:noFill/>
          <a:ln w="12700">
            <a:solidFill>
              <a:srgbClr val="A49E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54680"/>
            <a:ext cx="3108960" cy="2743200"/>
          </a:xfrm>
          <a:prstGeom prst="roundRect">
            <a:avLst>
              <a:gd name="adj" fmla="val 2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515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 · 管家群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8404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花花 —— 正隆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唐唐 —— 時兆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Jessica —— 全物件+支援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(房務量能:方向五補充)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44568" y="3154680"/>
            <a:ext cx="3108960" cy="2743200"/>
          </a:xfrm>
          <a:prstGeom prst="roundRect">
            <a:avLst>
              <a:gd name="adj" fmla="val 2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73168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商務行政 · Cindy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8404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多平台刊登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公司移轉・財報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報帳/請款/發票 SOP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外籍房務人力(方向五)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66176" y="3154680"/>
            <a:ext cx="3108960" cy="2743200"/>
          </a:xfrm>
          <a:prstGeom prst="roundRect">
            <a:avLst>
              <a:gd name="adj" fmla="val 2000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94776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數位行銷 · 大偉+芊芊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94776" y="38404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大偉:ERP・官網・補助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芊芊:社群・官網輔助・補助輔助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獵房主責:本次會議拍板。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職責一覽(依本次公告)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97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花花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正隆 物件照看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唐唐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時兆 物件照看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Jessica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全物件照看+機動支援;正隆詢問週報(每週一);忙不過來 → 提出是什麼事(餵給方向二)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Cindy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多平台刊登・公司移轉・財報・報帳/請款/發票 SOP・外籍房務人力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系統化・官網收尾上線・補助申請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芊芊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社群經營・官網輔助・補助申請輔助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· 每個政策都要能被檢查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成效驗收與時程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480560"/>
                <a:gridCol w="1965960"/>
                <a:gridCol w="1188720"/>
                <a:gridCol w="19019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驗收標準(KPI)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追蹤工具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6F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CC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 新增案源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開發接觸數(週)→ 新增簽約戶數(月);目標數 __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開發清單表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雙週營運會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本月啟動四路;首簽 __ 週內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 正隆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18F B5 成交日;成交率與未訂原因排行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正隆詢問週報.xlsx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每週一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B5 __ 週內成交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 流程優化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問題清單收齊 → 前 3 名自動化上線;管家自報每週省下時數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時間小偷表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清單 2 週;上線 1 個月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 銷售渠道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全物件上架率 100%;週詢問數;月成交件數——刊了多少,更要算賣了多少(來源歸因)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詢問追蹤表(含來源欄)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 2 週內;官網上線 __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 政府補助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比較表 → 擇案 → 送件 → 核定金額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補助比較表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比較表 2 週;送件 __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 外籍房務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管道確定 → 申請送出 → 到任日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進度回報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4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各節點日期 __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原則:沒有驗收標準的政策,不是政策。表中所有 __ 的目標數字,本次會議當場訂定。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今天就要決定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本次會議拍板三件事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獵房主責是誰?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03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方向一需要一個每週盯進度的名字。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5844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驗收目標數字,當場訂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474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上一頁所有 __ 的格子——簽約目標、B5 期限、官網上線日、送件日——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今天填完才散會。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4956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864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各方向「本月第一步」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46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五位主責各自認領:這個月先做哪一件、什麼時候回報。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6F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不變的事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方向在變,底色不變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834640"/>
          </a:xfrm>
          <a:prstGeom prst="roundRect">
            <a:avLst>
              <a:gd name="adj" fmla="val 1935"/>
            </a:avLst>
          </a:prstGeom>
          <a:solidFill>
            <a:srgbClr val="FBF9F3"/>
          </a:solidFill>
          <a:ln w="9525">
            <a:solidFill>
              <a:srgbClr val="E5DFD2"/>
            </a:solidFill>
            <a:prstDash val="solid"/>
          </a:ln>
          <a:effectLst>
            <a:outerShdw sx="100000" sy="100000" kx="0" ky="0" algn="bl" rotWithShape="0" blurRad="76200" dist="25400" dir="5400000">
              <a:srgbClr val="9A92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10268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服務標準不變 —— 四把尺、基本五條、12 小時、押金 14 天,照舊。</a:t>
            </a:r>
            <a:endParaRPr lang="en-US" sz="1400" dirty="0"/>
          </a:p>
          <a:p>
            <a:pPr marL="152400" indent="-1524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九條價值觀不變 —— 增加營業額的每一步,都用同一把尺量。</a:t>
            </a:r>
            <a:endParaRPr lang="en-US" sz="1400" dirty="0"/>
          </a:p>
          <a:p>
            <a:pPr marL="152400" indent="-1524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品牌不變 —— 年租軌接得多,ESTIA 的入選標準與樣子,一條不鬆。</a:t>
            </a:r>
            <a:endParaRPr lang="en-US" sz="1400" dirty="0"/>
          </a:p>
          <a:p>
            <a:pPr marL="152400" indent="-1524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4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對彼此的方式不變 —— 對事直接,對人溫柔。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最後:這份公告本身,接受提問與質疑——顧火,現在開始。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49E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一起把營業額做起來。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200" kern="0" dirty="0">
                <a:solidFill>
                  <a:srgbClr val="8F8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8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ESTIA · 公司方向公告  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2026-08-28T05:12:24Z</dcterms:created>
  <dcterms:modified xsi:type="dcterms:W3CDTF">2026-08-28T05:12:24Z</dcterms:modified>
</cp:coreProperties>
</file>